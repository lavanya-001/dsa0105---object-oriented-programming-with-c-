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1D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t>Smart Campus Lost-and-Found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8C8DD"/>
                </a:solidFill>
                <a:latin typeface="Aptos"/>
              </a:defRPr>
            </a:pPr>
            <a:r>
              <a:t>PROJECT PRESENTATION  •  C++ CONSOLE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8DD"/>
                </a:solidFill>
                <a:latin typeface="Aptos"/>
              </a:defRPr>
            </a:pPr>
            <a:r>
              <a:t>SMART CAMPUS  /  LOST-AND-FOUND TRACKING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1D7B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4F7FC"/>
                </a:solidFill>
                <a:latin typeface="Aptos"/>
              </a:defRPr>
            </a:pPr>
            <a:r>
              <a:rPr dirty="0"/>
              <a:t>Smart Campus Lost-and-Found</a:t>
            </a:r>
          </a:p>
          <a:p>
            <a:pPr>
              <a:spcAft>
                <a:spcPts val="1200"/>
              </a:spcAft>
              <a:defRPr sz="3600" b="1">
                <a:solidFill>
                  <a:srgbClr val="F4F7FC"/>
                </a:solidFill>
                <a:latin typeface="Aptos"/>
              </a:defRPr>
            </a:pPr>
            <a:r>
              <a:rPr dirty="0"/>
              <a:t>Tracking System Using C++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105156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B8C8DD"/>
                </a:solidFill>
                <a:latin typeface="Aptos"/>
              </a:defRPr>
            </a:pPr>
            <a:r>
              <a:rPr dirty="0"/>
              <a:t>Course name &amp; code: </a:t>
            </a:r>
            <a:r>
              <a:rPr lang="en-US" dirty="0"/>
              <a:t>DSA0105 (Object oriented programming in C+</a:t>
            </a:r>
            <a:endParaRPr dirty="0"/>
          </a:p>
          <a:p>
            <a:pPr>
              <a:spcAft>
                <a:spcPts val="1200"/>
              </a:spcAft>
              <a:defRPr sz="1900" b="0">
                <a:solidFill>
                  <a:srgbClr val="B8C8DD"/>
                </a:solidFill>
                <a:latin typeface="Aptos"/>
              </a:defRPr>
            </a:pPr>
            <a:r>
              <a:rPr dirty="0"/>
              <a:t>Guide: </a:t>
            </a:r>
            <a:r>
              <a:rPr lang="en-US" dirty="0"/>
              <a:t>DR.JAGADEESH</a:t>
            </a:r>
            <a:r>
              <a:rPr dirty="0"/>
              <a:t>  </a:t>
            </a:r>
            <a:endParaRPr lang="en-US" dirty="0"/>
          </a:p>
          <a:p>
            <a:pPr>
              <a:spcAft>
                <a:spcPts val="1200"/>
              </a:spcAft>
              <a:defRPr sz="1900" b="0">
                <a:solidFill>
                  <a:srgbClr val="B8C8DD"/>
                </a:solidFill>
                <a:latin typeface="Aptos"/>
              </a:defRPr>
            </a:pPr>
            <a:r>
              <a:rPr lang="en-IN" dirty="0"/>
              <a:t>Submitted by:</a:t>
            </a:r>
          </a:p>
          <a:p>
            <a:pPr>
              <a:spcAft>
                <a:spcPts val="1200"/>
              </a:spcAft>
              <a:defRPr sz="1900" b="0">
                <a:solidFill>
                  <a:srgbClr val="B8C8DD"/>
                </a:solidFill>
                <a:latin typeface="Aptos"/>
              </a:defRPr>
            </a:pPr>
            <a:r>
              <a:rPr lang="en-IN" dirty="0"/>
              <a:t>K.SHEIK NASRIN(192571066)</a:t>
            </a:r>
          </a:p>
          <a:p>
            <a:pPr>
              <a:spcAft>
                <a:spcPts val="1200"/>
              </a:spcAft>
              <a:defRPr sz="1900" b="0">
                <a:solidFill>
                  <a:srgbClr val="B8C8DD"/>
                </a:solidFill>
                <a:latin typeface="Aptos"/>
              </a:defRPr>
            </a:pPr>
            <a:r>
              <a:rPr dirty="0"/>
              <a:t>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1D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8C8DD"/>
                </a:solidFill>
                <a:latin typeface="Aptos"/>
              </a:defRPr>
            </a:pPr>
            <a:r>
              <a:rPr dirty="0"/>
              <a:t>A structured approach to recording, searching and returning campus belongings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8DD"/>
                </a:solidFill>
                <a:latin typeface="Aptos"/>
              </a:defRPr>
            </a:pPr>
            <a:r>
              <a:t>SMART CAMPUS  /  LOST-AND-FOUND TRACKING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1D7B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F4F7FC"/>
                </a:solidFill>
                <a:latin typeface="Aptos"/>
              </a:defRPr>
            </a:pPr>
            <a:r>
              <a:t>•  Proposes a centralized console application for registering lost and found items.</a:t>
            </a:r>
          </a:p>
          <a:p>
            <a:pPr>
              <a:spcAft>
                <a:spcPts val="1200"/>
              </a:spcAft>
              <a:defRPr sz="2300" b="0">
                <a:solidFill>
                  <a:srgbClr val="F4F7FC"/>
                </a:solidFill>
                <a:latin typeface="Aptos"/>
              </a:defRPr>
            </a:pPr>
            <a:r>
              <a:t>•  Stores item details and status in local text or CSV files.</a:t>
            </a:r>
          </a:p>
          <a:p>
            <a:pPr>
              <a:spcAft>
                <a:spcPts val="1200"/>
              </a:spcAft>
              <a:defRPr sz="2300" b="0">
                <a:solidFill>
                  <a:srgbClr val="F4F7FC"/>
                </a:solidFill>
                <a:latin typeface="Aptos"/>
              </a:defRPr>
            </a:pPr>
            <a:r>
              <a:t>•  Uses string matching and conditional filtering to identify possible matches.</a:t>
            </a:r>
          </a:p>
          <a:p>
            <a:pPr>
              <a:spcAft>
                <a:spcPts val="1200"/>
              </a:spcAft>
              <a:defRPr sz="2300" b="0">
                <a:solidFill>
                  <a:srgbClr val="F4F7FC"/>
                </a:solidFill>
                <a:latin typeface="Aptos"/>
              </a:defRPr>
            </a:pPr>
            <a:r>
              <a:t>•  Supports ownership verification before recording an item as returned.</a:t>
            </a:r>
          </a:p>
          <a:p>
            <a:pPr>
              <a:spcAft>
                <a:spcPts val="1200"/>
              </a:spcAft>
              <a:defRPr sz="2300" b="0">
                <a:solidFill>
                  <a:srgbClr val="F4F7FC"/>
                </a:solidFill>
                <a:latin typeface="Aptos"/>
              </a:defRPr>
            </a:pPr>
            <a:r>
              <a:t>•  Applies C++ classes, objects, functions, vectors and file handling.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1D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8C8DD"/>
                </a:solidFill>
                <a:latin typeface="Aptos"/>
              </a:defRPr>
            </a:pPr>
            <a:r>
              <a:t>The problem the project is designed to address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8DD"/>
                </a:solidFill>
                <a:latin typeface="Aptos"/>
              </a:defRPr>
            </a:pPr>
            <a:r>
              <a:t>SMART CAMPUS  /  LOST-AND-FOUND TRACKING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1D7B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3444240" cy="4251960"/>
          </a:xfrm>
          <a:prstGeom prst="rect">
            <a:avLst/>
          </a:prstGeom>
          <a:solidFill>
            <a:srgbClr val="19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874519"/>
            <a:ext cx="307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41D7BD"/>
                </a:solidFill>
                <a:latin typeface="Aptos"/>
              </a:defRPr>
            </a:pPr>
            <a:r>
              <a:t>Current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307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ptos"/>
              </a:defRPr>
            </a:pPr>
            <a:r>
              <a:t>Lost-item reports can be scattered across notices, messages and informal inquiries.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200" y="1691640"/>
            <a:ext cx="3444240" cy="4251960"/>
          </a:xfrm>
          <a:prstGeom prst="rect">
            <a:avLst/>
          </a:prstGeom>
          <a:solidFill>
            <a:srgbClr val="19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0080" y="1874519"/>
            <a:ext cx="307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41D7BD"/>
                </a:solidFill>
                <a:latin typeface="Aptos"/>
              </a:defRPr>
            </a:pPr>
            <a:r>
              <a:t>Operational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80" y="2606040"/>
            <a:ext cx="307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ptos"/>
              </a:defRPr>
            </a:pPr>
            <a:r>
              <a:t>Without a shared record, comparing reports and tracking unresolved items is difficult.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94320" y="1691640"/>
            <a:ext cx="3444240" cy="4251960"/>
          </a:xfrm>
          <a:prstGeom prst="rect">
            <a:avLst/>
          </a:prstGeom>
          <a:solidFill>
            <a:srgbClr val="19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77199" y="1874519"/>
            <a:ext cx="307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41D7BD"/>
                </a:solidFill>
                <a:latin typeface="Aptos"/>
              </a:defRPr>
            </a:pPr>
            <a:r>
              <a:t>Project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7199" y="2606040"/>
            <a:ext cx="307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ptos"/>
              </a:defRPr>
            </a:pPr>
            <a:r>
              <a:t>Provide one organized workflow to register items, find potential matches and document returns.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1D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8C8DD"/>
                </a:solidFill>
                <a:latin typeface="Aptos"/>
              </a:defRPr>
            </a:pPr>
            <a:r>
              <a:t>Five clear goals for the 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8DD"/>
                </a:solidFill>
                <a:latin typeface="Aptos"/>
              </a:defRPr>
            </a:pPr>
            <a:r>
              <a:t>SMART CAMPUS  /  LOST-AND-FOUND TRACKING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1D7B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F4F7FC"/>
                </a:solidFill>
                <a:latin typeface="Aptos"/>
              </a:defRPr>
            </a:pPr>
            <a:r>
              <a:t>•  Register lost and found items with consistent, validated fields.</a:t>
            </a:r>
          </a:p>
          <a:p>
            <a:pPr>
              <a:spcAft>
                <a:spcPts val="1200"/>
              </a:spcAft>
              <a:defRPr sz="2300" b="0">
                <a:solidFill>
                  <a:srgbClr val="F4F7FC"/>
                </a:solidFill>
                <a:latin typeface="Aptos"/>
              </a:defRPr>
            </a:pPr>
            <a:r>
              <a:t>•  Maintain unique item IDs and a searchable record collection.</a:t>
            </a:r>
          </a:p>
          <a:p>
            <a:pPr>
              <a:spcAft>
                <a:spcPts val="1200"/>
              </a:spcAft>
              <a:defRPr sz="2300" b="0">
                <a:solidFill>
                  <a:srgbClr val="F4F7FC"/>
                </a:solidFill>
                <a:latin typeface="Aptos"/>
              </a:defRPr>
            </a:pPr>
            <a:r>
              <a:t>•  Identify potential matches using item attributes and search conditions.</a:t>
            </a:r>
          </a:p>
          <a:p>
            <a:pPr>
              <a:spcAft>
                <a:spcPts val="1200"/>
              </a:spcAft>
              <a:defRPr sz="2300" b="0">
                <a:solidFill>
                  <a:srgbClr val="F4F7FC"/>
                </a:solidFill>
                <a:latin typeface="Aptos"/>
              </a:defRPr>
            </a:pPr>
            <a:r>
              <a:t>•  Verify ownership and track Lost, Found and Returned states.</a:t>
            </a:r>
          </a:p>
          <a:p>
            <a:pPr>
              <a:spcAft>
                <a:spcPts val="1200"/>
              </a:spcAft>
              <a:defRPr sz="2300" b="0">
                <a:solidFill>
                  <a:srgbClr val="F4F7FC"/>
                </a:solidFill>
                <a:latin typeface="Aptos"/>
              </a:defRPr>
            </a:pPr>
            <a:r>
              <a:t>•  Preserve records between sessions and evaluate the system using test cases.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1D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8C8DD"/>
                </a:solidFill>
                <a:latin typeface="Aptos"/>
              </a:defRPr>
            </a:pPr>
            <a:r>
              <a:t>Menu-driven workflow with persistent local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8DD"/>
                </a:solidFill>
                <a:latin typeface="Aptos"/>
              </a:defRPr>
            </a:pPr>
            <a:r>
              <a:t>SMART CAMPUS  /  LOST-AND-FOUND TRACKING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1D7B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3444240" cy="4251960"/>
          </a:xfrm>
          <a:prstGeom prst="rect">
            <a:avLst/>
          </a:prstGeom>
          <a:solidFill>
            <a:srgbClr val="19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874519"/>
            <a:ext cx="307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41D7BD"/>
                </a:solidFill>
                <a:latin typeface="Aptos"/>
              </a:defRPr>
            </a:pPr>
            <a:r>
              <a:t>1 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307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ptos"/>
              </a:defRPr>
            </a:pPr>
            <a:r>
              <a:t>Enter item name, category, date, location and description.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ptos"/>
              </a:defRPr>
            </a:pPr>
            <a:r>
              <a:t>Assign a unique item 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200" y="1691640"/>
            <a:ext cx="3444240" cy="4251960"/>
          </a:xfrm>
          <a:prstGeom prst="rect">
            <a:avLst/>
          </a:prstGeom>
          <a:solidFill>
            <a:srgbClr val="19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0080" y="1874519"/>
            <a:ext cx="307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41D7BD"/>
                </a:solidFill>
                <a:latin typeface="Aptos"/>
              </a:defRPr>
            </a:pPr>
            <a:r>
              <a:t>2  Search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80" y="2606040"/>
            <a:ext cx="307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ptos"/>
              </a:defRPr>
            </a:pPr>
            <a:r>
              <a:t>Filter records and compare descriptions.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ptos"/>
              </a:defRPr>
            </a:pPr>
            <a:r>
              <a:t>Review candidates and request distinguishing ownership details.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94320" y="1691640"/>
            <a:ext cx="3444240" cy="4251960"/>
          </a:xfrm>
          <a:prstGeom prst="rect">
            <a:avLst/>
          </a:prstGeom>
          <a:solidFill>
            <a:srgbClr val="19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77199" y="1874519"/>
            <a:ext cx="307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41D7BD"/>
                </a:solidFill>
                <a:latin typeface="Aptos"/>
              </a:defRPr>
            </a:pPr>
            <a:r>
              <a:t>3  Return &amp; save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7199" y="2606040"/>
            <a:ext cx="307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ptos"/>
              </a:defRPr>
            </a:pPr>
            <a:r>
              <a:t>Confirm the handover, update related records and save changes.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ptos"/>
              </a:defRPr>
            </a:pPr>
            <a:r>
              <a:t>Review unresolved items.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1D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t>System Architecture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1D7B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607040" cy="731520"/>
          </a:xfrm>
          <a:prstGeom prst="rect">
            <a:avLst/>
          </a:prstGeom>
          <a:solidFill>
            <a:srgbClr val="19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92224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4F7FC"/>
                </a:solidFill>
                <a:latin typeface="Aptos"/>
              </a:defRPr>
            </a:pPr>
            <a:r>
              <a:t>USER INTERFACE  |  C++ console menu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97480"/>
            <a:ext cx="10607040" cy="960120"/>
          </a:xfrm>
          <a:prstGeom prst="rect">
            <a:avLst/>
          </a:prstGeom>
          <a:solidFill>
            <a:srgbClr val="19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843784"/>
            <a:ext cx="1024128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4F7FC"/>
                </a:solidFill>
                <a:latin typeface="Aptos"/>
              </a:defRPr>
            </a:pPr>
            <a:r>
              <a:t>APPLICATION LOGIC  |  Registration • Search &amp; matching • Verification &amp; return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77639"/>
            <a:ext cx="10607040" cy="731520"/>
          </a:xfrm>
          <a:prstGeom prst="rect">
            <a:avLst/>
          </a:prstGeom>
          <a:solidFill>
            <a:srgbClr val="19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23944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4F7FC"/>
                </a:solidFill>
                <a:latin typeface="Aptos"/>
              </a:defRPr>
            </a:pPr>
            <a:r>
              <a:t>DATA MODEL  |  Item class • Objects • Vectors • Validation functions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029200"/>
            <a:ext cx="10607040" cy="731520"/>
          </a:xfrm>
          <a:prstGeom prst="rect">
            <a:avLst/>
          </a:prstGeom>
          <a:solidFill>
            <a:srgbClr val="19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175504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4F7FC"/>
                </a:solidFill>
                <a:latin typeface="Aptos"/>
              </a:defRPr>
            </a:pPr>
            <a:r>
              <a:t>PERSISTENCE  |  File handling → Local text / CSV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37744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41D7BD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65760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41D7BD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470916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41D7BD"/>
                </a:solidFill>
                <a:latin typeface="Aptos"/>
              </a:defRPr>
            </a:pPr>
            <a:r>
              <a:t>↓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D2F8022-0E91-49E6-BE64-B268543A3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27" y="1088923"/>
            <a:ext cx="10992145" cy="51250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1D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t>Module 1: Lost and Found Item Registration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8C8DD"/>
                </a:solidFill>
                <a:latin typeface="Aptos"/>
              </a:defRPr>
            </a:pPr>
            <a:r>
              <a:t>Capture and validate a complete item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8DD"/>
                </a:solidFill>
                <a:latin typeface="Aptos"/>
              </a:defRPr>
            </a:pPr>
            <a:r>
              <a:t>SMART CAMPUS  /  LOST-AND-FOUND TRACKING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1D7B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74980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F4F7FC"/>
                </a:solidFill>
                <a:latin typeface="Aptos"/>
              </a:defRPr>
            </a:pPr>
            <a:r>
              <a:t>•  Collect item name, category, lost/found date, location and description.</a:t>
            </a:r>
          </a:p>
          <a:p>
            <a:pPr>
              <a:spcAft>
                <a:spcPts val="1200"/>
              </a:spcAft>
              <a:defRPr sz="2200" b="0">
                <a:solidFill>
                  <a:srgbClr val="F4F7FC"/>
                </a:solidFill>
                <a:latin typeface="Aptos"/>
              </a:defRPr>
            </a:pPr>
            <a:r>
              <a:t>•  Generate a unique item ID and assign an initial Lost or Found status.</a:t>
            </a:r>
          </a:p>
          <a:p>
            <a:pPr>
              <a:spcAft>
                <a:spcPts val="1200"/>
              </a:spcAft>
              <a:defRPr sz="2200" b="0">
                <a:solidFill>
                  <a:srgbClr val="F4F7FC"/>
                </a:solidFill>
                <a:latin typeface="Aptos"/>
              </a:defRPr>
            </a:pPr>
            <a:r>
              <a:t>•  Check required fields, date format and valid menu selections.</a:t>
            </a:r>
          </a:p>
          <a:p>
            <a:pPr>
              <a:spcAft>
                <a:spcPts val="1200"/>
              </a:spcAft>
              <a:defRPr sz="2200" b="0">
                <a:solidFill>
                  <a:srgbClr val="F4F7FC"/>
                </a:solidFill>
                <a:latin typeface="Aptos"/>
              </a:defRPr>
            </a:pPr>
            <a:r>
              <a:t>•  Create an Item object and add it to the in-memory record collection.</a:t>
            </a:r>
          </a:p>
          <a:p>
            <a:pPr>
              <a:spcAft>
                <a:spcPts val="1200"/>
              </a:spcAft>
              <a:defRPr sz="2200" b="0">
                <a:solidFill>
                  <a:srgbClr val="F4F7FC"/>
                </a:solidFill>
                <a:latin typeface="Aptos"/>
              </a:defRPr>
            </a:pPr>
            <a:r>
              <a:t>•  Forward the validated record to the storage module.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1645920"/>
            <a:ext cx="3017520" cy="4297680"/>
          </a:xfrm>
          <a:prstGeom prst="rect">
            <a:avLst/>
          </a:prstGeom>
          <a:solidFill>
            <a:srgbClr val="19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0" y="1874519"/>
            <a:ext cx="2560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1D7BD"/>
                </a:solidFill>
                <a:latin typeface="Aptos"/>
              </a:defRPr>
            </a:pPr>
            <a:r>
              <a:rPr dirty="0"/>
              <a:t>Input details</a:t>
            </a:r>
          </a:p>
          <a:p>
            <a:pPr>
              <a:spcAft>
                <a:spcPts val="1200"/>
              </a:spcAft>
              <a:defRPr sz="1900" b="0">
                <a:solidFill>
                  <a:srgbClr val="41D7BD"/>
                </a:solidFill>
                <a:latin typeface="Aptos"/>
              </a:defRPr>
            </a:pPr>
            <a:r>
              <a:rPr dirty="0"/>
              <a:t>↓</a:t>
            </a:r>
          </a:p>
          <a:p>
            <a:pPr>
              <a:spcAft>
                <a:spcPts val="1200"/>
              </a:spcAft>
              <a:defRPr sz="1900" b="0">
                <a:solidFill>
                  <a:srgbClr val="41D7BD"/>
                </a:solidFill>
                <a:latin typeface="Aptos"/>
              </a:defRPr>
            </a:pPr>
            <a:r>
              <a:rPr dirty="0"/>
              <a:t>Validate fields</a:t>
            </a:r>
          </a:p>
          <a:p>
            <a:pPr>
              <a:spcAft>
                <a:spcPts val="1200"/>
              </a:spcAft>
              <a:defRPr sz="1900" b="0">
                <a:solidFill>
                  <a:srgbClr val="41D7BD"/>
                </a:solidFill>
                <a:latin typeface="Aptos"/>
              </a:defRPr>
            </a:pPr>
            <a:r>
              <a:rPr dirty="0"/>
              <a:t>↓</a:t>
            </a:r>
          </a:p>
          <a:p>
            <a:pPr>
              <a:spcAft>
                <a:spcPts val="1200"/>
              </a:spcAft>
              <a:defRPr sz="1900" b="0">
                <a:solidFill>
                  <a:srgbClr val="41D7BD"/>
                </a:solidFill>
                <a:latin typeface="Aptos"/>
              </a:defRPr>
            </a:pPr>
            <a:r>
              <a:rPr dirty="0"/>
              <a:t>Assign ID &amp; status</a:t>
            </a:r>
          </a:p>
          <a:p>
            <a:pPr>
              <a:spcAft>
                <a:spcPts val="1200"/>
              </a:spcAft>
              <a:defRPr sz="1900" b="0">
                <a:solidFill>
                  <a:srgbClr val="41D7BD"/>
                </a:solidFill>
                <a:latin typeface="Aptos"/>
              </a:defRPr>
            </a:pPr>
            <a:r>
              <a:rPr dirty="0"/>
              <a:t>↓</a:t>
            </a:r>
          </a:p>
          <a:p>
            <a:pPr>
              <a:spcAft>
                <a:spcPts val="1200"/>
              </a:spcAft>
              <a:defRPr sz="1900" b="0">
                <a:solidFill>
                  <a:srgbClr val="41D7BD"/>
                </a:solidFill>
                <a:latin typeface="Aptos"/>
              </a:defRPr>
            </a:pPr>
            <a:r>
              <a:rPr dirty="0"/>
              <a:t>Save record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1D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t>Module 2: Smart Item Search and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8C8DD"/>
                </a:solidFill>
                <a:latin typeface="Aptos"/>
              </a:defRPr>
            </a:pPr>
            <a:r>
              <a:t>String matching + linear search; not an AI or machine-learning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8DD"/>
                </a:solidFill>
                <a:latin typeface="Aptos"/>
              </a:defRPr>
            </a:pPr>
            <a:r>
              <a:t>SMART CAMPUS  /  LOST-AND-FOUND TRACKING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1D7B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74980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F4F7FC"/>
                </a:solidFill>
                <a:latin typeface="Aptos"/>
              </a:defRPr>
            </a:pPr>
            <a:r>
              <a:t>•  Accept keywords and optional category, location or date filters.</a:t>
            </a:r>
          </a:p>
          <a:p>
            <a:pPr>
              <a:spcAft>
                <a:spcPts val="1200"/>
              </a:spcAft>
              <a:defRPr sz="2200" b="0">
                <a:solidFill>
                  <a:srgbClr val="F4F7FC"/>
                </a:solidFill>
                <a:latin typeface="Aptos"/>
              </a:defRPr>
            </a:pPr>
            <a:r>
              <a:t>•  Normalize letter case and trim input before comparing text.</a:t>
            </a:r>
          </a:p>
          <a:p>
            <a:pPr>
              <a:spcAft>
                <a:spcPts val="1200"/>
              </a:spcAft>
              <a:defRPr sz="2200" b="0">
                <a:solidFill>
                  <a:srgbClr val="F4F7FC"/>
                </a:solidFill>
                <a:latin typeface="Aptos"/>
              </a:defRPr>
            </a:pPr>
            <a:r>
              <a:t>•  Scan stored records using linear search and conditional checks.</a:t>
            </a:r>
          </a:p>
          <a:p>
            <a:pPr>
              <a:spcAft>
                <a:spcPts val="1200"/>
              </a:spcAft>
              <a:defRPr sz="2200" b="0">
                <a:solidFill>
                  <a:srgbClr val="F4F7FC"/>
                </a:solidFill>
                <a:latin typeface="Aptos"/>
              </a:defRPr>
            </a:pPr>
            <a:r>
              <a:t>•  Compare lost reports against found records and display potential matches.</a:t>
            </a:r>
          </a:p>
          <a:p>
            <a:pPr>
              <a:spcAft>
                <a:spcPts val="1200"/>
              </a:spcAft>
              <a:defRPr sz="2200" b="0">
                <a:solidFill>
                  <a:srgbClr val="F4F7FC"/>
                </a:solidFill>
                <a:latin typeface="Aptos"/>
              </a:defRPr>
            </a:pPr>
            <a:r>
              <a:t>•  Present item IDs and supporting attributes; a match is not proof of ownership.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1645920"/>
            <a:ext cx="3017520" cy="4297680"/>
          </a:xfrm>
          <a:prstGeom prst="rect">
            <a:avLst/>
          </a:prstGeom>
          <a:solidFill>
            <a:srgbClr val="19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0" y="1874519"/>
            <a:ext cx="2560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1D7BD"/>
                </a:solidFill>
                <a:latin typeface="Aptos"/>
              </a:defRPr>
            </a:pPr>
            <a:r>
              <a:t>Enter query</a:t>
            </a:r>
          </a:p>
          <a:p>
            <a:pPr>
              <a:spcAft>
                <a:spcPts val="1200"/>
              </a:spcAft>
              <a:defRPr sz="1900" b="0">
                <a:solidFill>
                  <a:srgbClr val="41D7B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900" b="0">
                <a:solidFill>
                  <a:srgbClr val="41D7BD"/>
                </a:solidFill>
                <a:latin typeface="Aptos"/>
              </a:defRPr>
            </a:pPr>
            <a:r>
              <a:t>Normalize &amp; filter</a:t>
            </a:r>
          </a:p>
          <a:p>
            <a:pPr>
              <a:spcAft>
                <a:spcPts val="1200"/>
              </a:spcAft>
              <a:defRPr sz="1900" b="0">
                <a:solidFill>
                  <a:srgbClr val="41D7B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900" b="0">
                <a:solidFill>
                  <a:srgbClr val="41D7BD"/>
                </a:solidFill>
                <a:latin typeface="Aptos"/>
              </a:defRPr>
            </a:pPr>
            <a:r>
              <a:t>Compare records</a:t>
            </a:r>
          </a:p>
          <a:p>
            <a:pPr>
              <a:spcAft>
                <a:spcPts val="1200"/>
              </a:spcAft>
              <a:defRPr sz="1900" b="0">
                <a:solidFill>
                  <a:srgbClr val="41D7B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900" b="0">
                <a:solidFill>
                  <a:srgbClr val="41D7BD"/>
                </a:solidFill>
                <a:latin typeface="Aptos"/>
              </a:defRPr>
            </a:pPr>
            <a:r>
              <a:t>Show candidates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1D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t>Module 3: Item Verification and Return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8C8DD"/>
                </a:solidFill>
                <a:latin typeface="Aptos"/>
              </a:defRPr>
            </a:pPr>
            <a:r>
              <a:t>A controlled handover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8DD"/>
                </a:solidFill>
                <a:latin typeface="Aptos"/>
              </a:defRPr>
            </a:pPr>
            <a:r>
              <a:t>SMART CAMPUS  /  LOST-AND-FOUND TRACKING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1D7B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74980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F4F7FC"/>
                </a:solidFill>
                <a:latin typeface="Aptos"/>
              </a:defRPr>
            </a:pPr>
            <a:r>
              <a:t>•  Select the candidate item using its unique item ID.</a:t>
            </a:r>
          </a:p>
          <a:p>
            <a:pPr>
              <a:spcAft>
                <a:spcPts val="1200"/>
              </a:spcAft>
              <a:defRPr sz="2200" b="0">
                <a:solidFill>
                  <a:srgbClr val="F4F7FC"/>
                </a:solidFill>
                <a:latin typeface="Aptos"/>
              </a:defRPr>
            </a:pPr>
            <a:r>
              <a:t>•  Ask the claimant for distinguishing details beyond the visible listing.</a:t>
            </a:r>
          </a:p>
          <a:p>
            <a:pPr>
              <a:spcAft>
                <a:spcPts val="1200"/>
              </a:spcAft>
              <a:defRPr sz="2200" b="0">
                <a:solidFill>
                  <a:srgbClr val="F4F7FC"/>
                </a:solidFill>
                <a:latin typeface="Aptos"/>
              </a:defRPr>
            </a:pPr>
            <a:r>
              <a:t>•  Compare the claim with the item description and available evidence.</a:t>
            </a:r>
          </a:p>
          <a:p>
            <a:pPr>
              <a:spcAft>
                <a:spcPts val="1200"/>
              </a:spcAft>
              <a:defRPr sz="2200" b="0">
                <a:solidFill>
                  <a:srgbClr val="F4F7FC"/>
                </a:solidFill>
                <a:latin typeface="Aptos"/>
              </a:defRPr>
            </a:pPr>
            <a:r>
              <a:t>•  Record the verification decision; keep unverified cases unresolved.</a:t>
            </a:r>
          </a:p>
          <a:p>
            <a:pPr>
              <a:spcAft>
                <a:spcPts val="1200"/>
              </a:spcAft>
              <a:defRPr sz="2200" b="0">
                <a:solidFill>
                  <a:srgbClr val="F4F7FC"/>
                </a:solidFill>
                <a:latin typeface="Aptos"/>
              </a:defRPr>
            </a:pPr>
            <a:r>
              <a:t>•  After a confirmed handover, mark the related record(s) Returned and save.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1645920"/>
            <a:ext cx="3017520" cy="4297680"/>
          </a:xfrm>
          <a:prstGeom prst="rect">
            <a:avLst/>
          </a:prstGeom>
          <a:solidFill>
            <a:srgbClr val="19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0" y="1874519"/>
            <a:ext cx="2560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1D7BD"/>
                </a:solidFill>
                <a:latin typeface="Aptos"/>
              </a:defRPr>
            </a:pPr>
            <a:r>
              <a:t>Select candidate</a:t>
            </a:r>
          </a:p>
          <a:p>
            <a:pPr>
              <a:spcAft>
                <a:spcPts val="1200"/>
              </a:spcAft>
              <a:defRPr sz="1900" b="0">
                <a:solidFill>
                  <a:srgbClr val="41D7B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900" b="0">
                <a:solidFill>
                  <a:srgbClr val="41D7BD"/>
                </a:solidFill>
                <a:latin typeface="Aptos"/>
              </a:defRPr>
            </a:pPr>
            <a:r>
              <a:t>Verify ownership</a:t>
            </a:r>
          </a:p>
          <a:p>
            <a:pPr>
              <a:spcAft>
                <a:spcPts val="1200"/>
              </a:spcAft>
              <a:defRPr sz="1900" b="0">
                <a:solidFill>
                  <a:srgbClr val="41D7B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900" b="0">
                <a:solidFill>
                  <a:srgbClr val="41D7BD"/>
                </a:solidFill>
                <a:latin typeface="Aptos"/>
              </a:defRPr>
            </a:pPr>
            <a:r>
              <a:t>Confirm handover</a:t>
            </a:r>
          </a:p>
          <a:p>
            <a:pPr>
              <a:spcAft>
                <a:spcPts val="1200"/>
              </a:spcAft>
              <a:defRPr sz="1900" b="0">
                <a:solidFill>
                  <a:srgbClr val="41D7B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900" b="0">
                <a:solidFill>
                  <a:srgbClr val="41D7BD"/>
                </a:solidFill>
                <a:latin typeface="Aptos"/>
              </a:defRPr>
            </a:pPr>
            <a:r>
              <a:t>Update status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1D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t>Sample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8C8DD"/>
                </a:solidFill>
                <a:latin typeface="Aptos"/>
              </a:defRPr>
            </a:pPr>
            <a:r>
              <a:t>Illustrative console mock-up — replace with screenshots after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8DD"/>
                </a:solidFill>
                <a:latin typeface="Aptos"/>
              </a:defRPr>
            </a:pPr>
            <a:r>
              <a:t>SMART CAMPUS  /  LOST-AND-FOUND TRACKING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1D7B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5486400" cy="443484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1600200"/>
            <a:ext cx="5074920" cy="4434840"/>
          </a:xfrm>
          <a:prstGeom prst="rect">
            <a:avLst/>
          </a:prstGeom>
          <a:solidFill>
            <a:srgbClr val="19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1D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t>Advantages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8C8DD"/>
                </a:solidFill>
                <a:latin typeface="Aptos"/>
              </a:defRPr>
            </a:pPr>
            <a:r>
              <a:t>Expected benefits and planned validation — no measured results supplied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8DD"/>
                </a:solidFill>
                <a:latin typeface="Aptos"/>
              </a:defRPr>
            </a:pPr>
            <a:r>
              <a:t>SMART CAMPUS  /  LOST-AND-FOUND TRACKING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1D7B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3444240" cy="4251960"/>
          </a:xfrm>
          <a:prstGeom prst="rect">
            <a:avLst/>
          </a:prstGeom>
          <a:solidFill>
            <a:srgbClr val="19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874519"/>
            <a:ext cx="307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41D7BD"/>
                </a:solidFill>
                <a:latin typeface="Aptos"/>
              </a:defRPr>
            </a:pPr>
            <a:r>
              <a:t>Expected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3078480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 b="0">
                <a:solidFill>
                  <a:srgbClr val="F4F7FC"/>
                </a:solidFill>
                <a:latin typeface="Aptos"/>
              </a:defRPr>
            </a:pPr>
            <a:r>
              <a:rPr dirty="0"/>
              <a:t>Organized item records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 b="0">
                <a:solidFill>
                  <a:srgbClr val="F4F7FC"/>
                </a:solidFill>
                <a:latin typeface="Aptos"/>
              </a:defRPr>
            </a:pPr>
            <a:r>
              <a:rPr dirty="0"/>
              <a:t>Consistent search workflow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 b="0">
                <a:solidFill>
                  <a:srgbClr val="F4F7FC"/>
                </a:solidFill>
                <a:latin typeface="Aptos"/>
              </a:defRPr>
            </a:pPr>
            <a:r>
              <a:rPr dirty="0"/>
              <a:t>Traceable return status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 b="0">
                <a:solidFill>
                  <a:srgbClr val="F4F7FC"/>
                </a:solidFill>
                <a:latin typeface="Aptos"/>
              </a:defRPr>
            </a:pPr>
            <a:r>
              <a:rPr dirty="0"/>
              <a:t>Persistent local storage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 b="0">
                <a:solidFill>
                  <a:srgbClr val="F4F7FC"/>
                </a:solidFill>
                <a:latin typeface="Aptos"/>
              </a:defRPr>
            </a:pPr>
            <a:r>
              <a:rPr dirty="0"/>
              <a:t>Simple console interface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200" y="1691640"/>
            <a:ext cx="3444240" cy="4251960"/>
          </a:xfrm>
          <a:prstGeom prst="rect">
            <a:avLst/>
          </a:prstGeom>
          <a:solidFill>
            <a:srgbClr val="19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0080" y="1874519"/>
            <a:ext cx="307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41D7BD"/>
                </a:solidFill>
                <a:latin typeface="Aptos"/>
              </a:defRPr>
            </a:pPr>
            <a:r>
              <a:t>Operational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80" y="2606040"/>
            <a:ext cx="3261360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 b="0">
                <a:solidFill>
                  <a:srgbClr val="F4F7FC"/>
                </a:solidFill>
                <a:latin typeface="Aptos"/>
              </a:defRPr>
            </a:pPr>
            <a:r>
              <a:rPr dirty="0"/>
              <a:t>Lost / found registrations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 b="0">
                <a:solidFill>
                  <a:srgbClr val="F4F7FC"/>
                </a:solidFill>
                <a:latin typeface="Aptos"/>
              </a:defRPr>
            </a:pPr>
            <a:r>
              <a:rPr dirty="0"/>
              <a:t>Possible matches identified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 b="0">
                <a:solidFill>
                  <a:srgbClr val="F4F7FC"/>
                </a:solidFill>
                <a:latin typeface="Aptos"/>
              </a:defRPr>
            </a:pPr>
            <a:r>
              <a:rPr dirty="0"/>
              <a:t>Items returned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 b="0">
                <a:solidFill>
                  <a:srgbClr val="F4F7FC"/>
                </a:solidFill>
                <a:latin typeface="Aptos"/>
              </a:defRPr>
            </a:pPr>
            <a:r>
              <a:rPr dirty="0"/>
              <a:t>Unresolved lost items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 b="0">
                <a:solidFill>
                  <a:srgbClr val="F4F7FC"/>
                </a:solidFill>
                <a:latin typeface="Aptos"/>
              </a:defRPr>
            </a:pPr>
            <a:r>
              <a:rPr dirty="0"/>
              <a:t>Record-management efficiency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94320" y="1691640"/>
            <a:ext cx="3444240" cy="4251960"/>
          </a:xfrm>
          <a:prstGeom prst="rect">
            <a:avLst/>
          </a:prstGeom>
          <a:solidFill>
            <a:srgbClr val="19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77199" y="1874519"/>
            <a:ext cx="307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41D7BD"/>
                </a:solidFill>
                <a:latin typeface="Aptos"/>
              </a:defRPr>
            </a:pPr>
            <a:r>
              <a:t>Quality &amp; timing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7198" y="2606040"/>
            <a:ext cx="3261361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 b="0">
                <a:solidFill>
                  <a:srgbClr val="F4F7FC"/>
                </a:solidFill>
                <a:latin typeface="Aptos"/>
              </a:defRPr>
            </a:pPr>
            <a:r>
              <a:rPr dirty="0"/>
              <a:t>Search precision: relevant results / results shown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 b="0">
                <a:solidFill>
                  <a:srgbClr val="F4F7FC"/>
                </a:solidFill>
                <a:latin typeface="Aptos"/>
              </a:defRPr>
            </a:pPr>
            <a:r>
              <a:rPr dirty="0"/>
              <a:t>Recovery rate: recovered lost reports / lost reports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 b="0">
                <a:solidFill>
                  <a:srgbClr val="F4F7FC"/>
                </a:solidFill>
                <a:latin typeface="Aptos"/>
              </a:defRPr>
            </a:pPr>
            <a:r>
              <a:rPr dirty="0"/>
              <a:t>Search response time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 b="0">
                <a:solidFill>
                  <a:srgbClr val="F4F7FC"/>
                </a:solidFill>
                <a:latin typeface="Aptos"/>
              </a:defRPr>
            </a:pPr>
            <a:r>
              <a:rPr dirty="0"/>
              <a:t>Time saved vs. a defined baseline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1D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8C8DD"/>
                </a:solidFill>
                <a:latin typeface="Aptos"/>
              </a:defRPr>
            </a:pPr>
            <a:r>
              <a:t>Implementation scope, environment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8DD"/>
                </a:solidFill>
                <a:latin typeface="Aptos"/>
              </a:defRPr>
            </a:pPr>
            <a:r>
              <a:t>SMART CAMPUS  /  LOST-AND-FOUND TRACKING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1D7B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10591800" cy="4526280"/>
          </a:xfrm>
          <a:prstGeom prst="rect">
            <a:avLst/>
          </a:prstGeom>
          <a:solidFill>
            <a:srgbClr val="19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0584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 b="0">
                <a:solidFill>
                  <a:srgbClr val="F4F7FC"/>
                </a:solidFill>
                <a:latin typeface="Aptos"/>
              </a:defRPr>
            </a:pPr>
            <a:r>
              <a:rPr dirty="0"/>
              <a:t>The proposed system connects registration, search, verification and persistent storage in one C++ application.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 b="0">
                <a:solidFill>
                  <a:srgbClr val="F4F7FC"/>
                </a:solidFill>
                <a:latin typeface="Aptos"/>
              </a:defRPr>
            </a:pPr>
            <a:endParaRPr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 b="0">
                <a:solidFill>
                  <a:srgbClr val="F4F7FC"/>
                </a:solidFill>
                <a:latin typeface="Aptos"/>
              </a:defRPr>
            </a:pPr>
            <a:r>
              <a:rPr dirty="0"/>
              <a:t>Build sequence: requirements &amp; design → module development → integration → manual tests → error handling &amp; documentation.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 b="0">
                <a:solidFill>
                  <a:srgbClr val="F4F7FC"/>
                </a:solidFill>
                <a:latin typeface="Aptos"/>
              </a:defRPr>
            </a:pPr>
            <a:endParaRPr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 b="0">
                <a:solidFill>
                  <a:srgbClr val="F4F7FC"/>
                </a:solidFill>
                <a:latin typeface="Aptos"/>
              </a:defRPr>
            </a:pPr>
            <a:r>
              <a:rPr dirty="0"/>
              <a:t>Actual matching accuracy, recovery rate and response time must be established through testing.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1D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68674" y="2875002"/>
            <a:ext cx="719672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rPr sz="6600" dirty="0"/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8DD"/>
                </a:solidFill>
                <a:latin typeface="Aptos"/>
              </a:defRPr>
            </a:pPr>
            <a:r>
              <a:t>SMART CAMPUS  /  LOST-AND-FOUND TRACKING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1D7BD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870</Words>
  <Application>Microsoft Office PowerPoint</Application>
  <PresentationFormat>Widescreen</PresentationFormat>
  <Paragraphs>146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sheik nasrin</cp:lastModifiedBy>
  <cp:revision>2</cp:revision>
  <dcterms:created xsi:type="dcterms:W3CDTF">2013-01-27T09:14:16Z</dcterms:created>
  <dcterms:modified xsi:type="dcterms:W3CDTF">2026-10-23T02:34:30Z</dcterms:modified>
  <cp:category/>
</cp:coreProperties>
</file>